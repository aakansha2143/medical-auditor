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0" r:id="rId3"/>
    <p:sldId id="263" r:id="rId4"/>
    <p:sldId id="265" r:id="rId5"/>
    <p:sldId id="261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400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23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64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55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6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4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3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7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6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93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35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417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30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4148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479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330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1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A71C6-644C-4791-ABE4-4A40F7CB69CF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54F271-8F23-4D0D-B34F-D837CBC5AE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2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1826" y="384560"/>
            <a:ext cx="8915400" cy="131605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Medical Literature Review &amp; Compliance Engine</a:t>
            </a:r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846" y="2089587"/>
            <a:ext cx="8915399" cy="461192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endParaRPr lang="en-US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98B6F4-98CD-4535-5FC4-93A23810A988}"/>
              </a:ext>
            </a:extLst>
          </p:cNvPr>
          <p:cNvSpPr txBox="1"/>
          <p:nvPr/>
        </p:nvSpPr>
        <p:spPr>
          <a:xfrm>
            <a:off x="2520846" y="3290610"/>
            <a:ext cx="7964274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🚨 Problem Statement: The Clinical Protocol Bottleneck</a:t>
            </a:r>
            <a:endParaRPr lang="en-US" sz="1400" dirty="0"/>
          </a:p>
          <a:p>
            <a:r>
              <a:rPr lang="en-US" sz="1400" b="1" dirty="0"/>
              <a:t>The Core Challenge</a:t>
            </a:r>
            <a:endParaRPr lang="en-US" sz="1400" dirty="0"/>
          </a:p>
          <a:p>
            <a:r>
              <a:rPr lang="en-US" sz="1400" dirty="0"/>
              <a:t>Pharmaceutical sponsors, Contract Research Organizations (CROs), and Institutional Review Boards (IRBs) face massive administrative friction and safety risks when evaluating clinical trial protocols against ever-evolving global regulatory and pharmaceutical safety standards. </a:t>
            </a:r>
          </a:p>
          <a:p>
            <a:r>
              <a:rPr lang="en-US" sz="1400" b="1" dirty="0"/>
              <a:t>Key Industry Statistics &amp; Critical Hazards</a:t>
            </a:r>
            <a:endParaRPr lang="en-US" sz="1400" dirty="0"/>
          </a:p>
          <a:p>
            <a:pPr lvl="0"/>
            <a:r>
              <a:rPr lang="en-US" sz="1400" dirty="0"/>
              <a:t>💰 </a:t>
            </a:r>
            <a:r>
              <a:rPr lang="en-US" sz="1400" b="1" dirty="0"/>
              <a:t>$1.5M–$8M</a:t>
            </a:r>
            <a:r>
              <a:rPr lang="en-US" sz="1400" dirty="0"/>
              <a:t> Average financial loss per day for delayed, suspended, or rejected Phase II/III clinical trials.</a:t>
            </a:r>
          </a:p>
          <a:p>
            <a:pPr lvl="0"/>
            <a:r>
              <a:rPr lang="en-US" sz="1400" dirty="0"/>
              <a:t>⚠️ </a:t>
            </a:r>
            <a:r>
              <a:rPr lang="en-US" sz="1400" b="1" dirty="0"/>
              <a:t>&gt;50mg Cardiotoxicity Thresholds:</a:t>
            </a:r>
            <a:r>
              <a:rPr lang="en-US" sz="1400" dirty="0"/>
              <a:t> Doses exceeding baseline parameters cause severe cardiac complications if telemetry monitoring is missing. </a:t>
            </a:r>
          </a:p>
          <a:p>
            <a:pPr lvl="0"/>
            <a:r>
              <a:rPr lang="en-US" sz="1400" dirty="0"/>
              <a:t>🧬 </a:t>
            </a:r>
            <a:r>
              <a:rPr lang="en-US" sz="1400" b="1" dirty="0"/>
              <a:t>30% Adverse Event Spike:</a:t>
            </a:r>
            <a:r>
              <a:rPr lang="en-US" sz="1400" dirty="0"/>
              <a:t> Specific combination therapies (e.g., Alpha-1 + Beta-2 inhibitors) significantly increase adverse patient events. </a:t>
            </a:r>
          </a:p>
          <a:p>
            <a:pPr lvl="0"/>
            <a:r>
              <a:rPr lang="en-US" sz="1400" dirty="0"/>
              <a:t>⏱️ </a:t>
            </a:r>
            <a:r>
              <a:rPr lang="en-US" sz="1400" b="1" dirty="0"/>
              <a:t>4 to 12 Weeks:</a:t>
            </a:r>
            <a:r>
              <a:rPr lang="en-US" sz="1400" dirty="0"/>
              <a:t> Average manual review time required for human IRB committees to audit cross-referenced protocol documentation.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2151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55CE-E498-7D09-0AC0-A16C5E01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In-Depth Analysis of Core Bottlenecks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FF2F638-1755-6461-984F-1533B98EBE3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45442040"/>
                  </p:ext>
                </p:extLst>
              </p:nvPr>
            </p:nvGraphicFramePr>
            <p:xfrm>
              <a:off x="477520" y="1905000"/>
              <a:ext cx="9591040" cy="3922324"/>
            </p:xfrm>
            <a:graphic>
              <a:graphicData uri="http://schemas.openxmlformats.org/drawingml/2006/table">
                <a:tbl>
                  <a:tblPr firstRow="1" firstCol="1" bandRow="1">
                    <a:tableStyleId>{073A0DAA-6AF3-43AB-8588-CEC1D06C72B9}</a:tableStyleId>
                  </a:tblPr>
                  <a:tblGrid>
                    <a:gridCol w="3985020">
                      <a:extLst>
                        <a:ext uri="{9D8B030D-6E8A-4147-A177-3AD203B41FA5}">
                          <a16:colId xmlns:a16="http://schemas.microsoft.com/office/drawing/2014/main" val="1644225091"/>
                        </a:ext>
                      </a:extLst>
                    </a:gridCol>
                    <a:gridCol w="2803010">
                      <a:extLst>
                        <a:ext uri="{9D8B030D-6E8A-4147-A177-3AD203B41FA5}">
                          <a16:colId xmlns:a16="http://schemas.microsoft.com/office/drawing/2014/main" val="298947768"/>
                        </a:ext>
                      </a:extLst>
                    </a:gridCol>
                    <a:gridCol w="2803010">
                      <a:extLst>
                        <a:ext uri="{9D8B030D-6E8A-4147-A177-3AD203B41FA5}">
                          <a16:colId xmlns:a16="http://schemas.microsoft.com/office/drawing/2014/main" val="3190296769"/>
                        </a:ext>
                      </a:extLst>
                    </a:gridCol>
                  </a:tblGrid>
                  <a:tr h="2171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Problem Area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Underlying Technical Bottleneck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Operational &amp; Patient Impact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14876594"/>
                      </a:ext>
                    </a:extLst>
                  </a:tr>
                  <a:tr h="88574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📄 Siloed Literature &amp; Data Fragmentation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Regulatory rules, FDA mandates, and drug safety indices exist across disparate, unstructured PDF files (medical_guidelines.pdf, drug_safety.pdf).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Human auditors miss subtle, cross-document drug-drug interactions or mandatory baseline biomarker logging requirements.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3309978740"/>
                      </a:ext>
                    </a:extLst>
                  </a:tr>
                  <a:tr h="61840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⏳ Manual &amp; High-Latency Review Loops</a:t>
                          </a:r>
                          <a:endParaRPr lang="en-U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Protocol validation relies on manual reading and cross-examination by domain experts.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Creates severe operational bottlenecks, delays trial commencement, and inflates administrative overhead.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2504537526"/>
                      </a:ext>
                    </a:extLst>
                  </a:tr>
                  <a:tr h="75207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🚨 Absence of Real-Time Hazard Containment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Traditional review systems lack automated, conditional safety checking engines prior to formal submission.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Unidentified dosage violations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kern="100">
                                  <a:effectLst/>
                                </a:rPr>
                                <m:t>&gt;</m:t>
                              </m:r>
                              <m:r>
                                <a:rPr lang="en-US" sz="1400" kern="100">
                                  <a:effectLst/>
                                </a:rPr>
                                <m:t>50</m:t>
                              </m:r>
                            </m:oMath>
                          </a14:m>
                          <a:r>
                            <a:rPr lang="en-US" sz="1400" kern="100" dirty="0">
                              <a:effectLst/>
                            </a:rPr>
                            <a:t>) or missing liver enzyme panels (AST/ALT) lead to protocol halts and regulatory rejections. </a:t>
                          </a:r>
                          <a:endParaRPr lang="en-U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6250521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FF2F638-1755-6461-984F-1533B98EBE3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45442040"/>
                  </p:ext>
                </p:extLst>
              </p:nvPr>
            </p:nvGraphicFramePr>
            <p:xfrm>
              <a:off x="477520" y="1905000"/>
              <a:ext cx="9591040" cy="3922324"/>
            </p:xfrm>
            <a:graphic>
              <a:graphicData uri="http://schemas.openxmlformats.org/drawingml/2006/table">
                <a:tbl>
                  <a:tblPr firstRow="1" firstCol="1" bandRow="1">
                    <a:tableStyleId>{073A0DAA-6AF3-43AB-8588-CEC1D06C72B9}</a:tableStyleId>
                  </a:tblPr>
                  <a:tblGrid>
                    <a:gridCol w="3985020">
                      <a:extLst>
                        <a:ext uri="{9D8B030D-6E8A-4147-A177-3AD203B41FA5}">
                          <a16:colId xmlns:a16="http://schemas.microsoft.com/office/drawing/2014/main" val="1644225091"/>
                        </a:ext>
                      </a:extLst>
                    </a:gridCol>
                    <a:gridCol w="2803010">
                      <a:extLst>
                        <a:ext uri="{9D8B030D-6E8A-4147-A177-3AD203B41FA5}">
                          <a16:colId xmlns:a16="http://schemas.microsoft.com/office/drawing/2014/main" val="298947768"/>
                        </a:ext>
                      </a:extLst>
                    </a:gridCol>
                    <a:gridCol w="2803010">
                      <a:extLst>
                        <a:ext uri="{9D8B030D-6E8A-4147-A177-3AD203B41FA5}">
                          <a16:colId xmlns:a16="http://schemas.microsoft.com/office/drawing/2014/main" val="3190296769"/>
                        </a:ext>
                      </a:extLst>
                    </a:gridCol>
                  </a:tblGrid>
                  <a:tr h="46685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Problem Area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Underlying Technical Bottleneck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Operational &amp; Patient Impact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14876594"/>
                      </a:ext>
                    </a:extLst>
                  </a:tr>
                  <a:tr h="138010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📄 Siloed Literature &amp; Data Fragmentation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Regulatory rules, FDA mandates, and drug safety indices exist across disparate, unstructured PDF files (medical_guidelines.pdf, drug_safety.pdf).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Human auditors miss subtle, cross-document drug-drug interactions or mandatory baseline biomarker logging requirements.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3309978740"/>
                      </a:ext>
                    </a:extLst>
                  </a:tr>
                  <a:tr h="92354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effectLst/>
                            </a:rPr>
                            <a:t>⏳ Manual &amp; High-Latency Review Loops</a:t>
                          </a:r>
                          <a:endParaRPr lang="en-US" sz="14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Protocol validation relies on manual reading and cross-examination by domain experts.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Creates severe operational bottlenecks, delays trial commencement, and inflates administrative overhead.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extLst>
                      <a:ext uri="{0D108BD9-81ED-4DB2-BD59-A6C34878D82A}">
                        <a16:rowId xmlns:a16="http://schemas.microsoft.com/office/drawing/2014/main" val="2504537526"/>
                      </a:ext>
                    </a:extLst>
                  </a:tr>
                  <a:tr h="115182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🚨 Absence of Real-Time Hazard Containment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effectLst/>
                            </a:rPr>
                            <a:t>Traditional review systems lack automated, conditional safety checking engines prior to formal submission. </a:t>
                          </a:r>
                          <a:endParaRPr lang="en-US" sz="14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6572" marR="16572" marT="11048" marB="11048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572" marR="16572" marT="11048" marB="11048" anchor="ctr">
                        <a:blipFill>
                          <a:blip r:embed="rId2"/>
                          <a:stretch>
                            <a:fillRect l="-242391" t="-244974" r="-870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0521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2903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65C0-1583-34EB-78E3-3836A3FA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💡 Solution: Multi-Agent Compliance Engine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063CA-1B64-D20F-A67E-FE54BB349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System Overview</a:t>
                </a:r>
                <a:endParaRPr lang="en-US" dirty="0"/>
              </a:p>
              <a:p>
                <a:r>
                  <a:rPr lang="en-US" dirty="0"/>
                  <a:t>An enterprise-grade, agentic audit system that ingests trial protocols, retrieves grounded reference literature using </a:t>
                </a:r>
                <a:r>
                  <a:rPr lang="en-US" dirty="0" err="1"/>
                  <a:t>ChromaDB</a:t>
                </a:r>
                <a:r>
                  <a:rPr lang="en-US" dirty="0"/>
                  <a:t>, executes a stateful dual-agent graph inspection, and triggers real-time safety alerts for critical clinical hazards. </a:t>
                </a:r>
              </a:p>
              <a:p>
                <a:r>
                  <a:rPr lang="en-US" dirty="0"/>
                  <a:t>Ingests trial protocols </a:t>
                </a:r>
                <a14:m>
                  <m:oMath xmlns:m="http://schemas.openxmlformats.org/officeDocument/2006/math">
                    <m:r>
                      <a:rPr lang="en-US" i="1"/>
                      <m:t>→</m:t>
                    </m:r>
                  </m:oMath>
                </a14:m>
                <a:r>
                  <a:rPr lang="en-US" dirty="0"/>
                  <a:t> fetches vector DB context </a:t>
                </a:r>
                <a14:m>
                  <m:oMath xmlns:m="http://schemas.openxmlformats.org/officeDocument/2006/math">
                    <m:r>
                      <a:rPr lang="en-US" i="1"/>
                      <m:t>→</m:t>
                    </m:r>
                  </m:oMath>
                </a14:m>
                <a:r>
                  <a:rPr lang="en-US" dirty="0"/>
                  <a:t> audits regulatory compliance </a:t>
                </a:r>
                <a14:m>
                  <m:oMath xmlns:m="http://schemas.openxmlformats.org/officeDocument/2006/math">
                    <m:r>
                      <a:rPr lang="en-US" i="1"/>
                      <m:t>→</m:t>
                    </m:r>
                  </m:oMath>
                </a14:m>
                <a:r>
                  <a:rPr lang="en-US" dirty="0"/>
                  <a:t> critiques clinical safety parameters </a:t>
                </a:r>
                <a14:m>
                  <m:oMath xmlns:m="http://schemas.openxmlformats.org/officeDocument/2006/math">
                    <m:r>
                      <a:rPr lang="en-US" i="1"/>
                      <m:t>→</m:t>
                    </m:r>
                  </m:oMath>
                </a14:m>
                <a:r>
                  <a:rPr lang="en-US" dirty="0"/>
                  <a:t> generates compiled executive reports in seconds. </a:t>
                </a:r>
              </a:p>
              <a:p>
                <a:pPr marL="0" indent="0">
                  <a:buNone/>
                </a:pPr>
                <a:r>
                  <a:rPr lang="en-US" b="1" dirty="0"/>
                  <a:t>Core System Pillars</a:t>
                </a:r>
                <a:endParaRPr lang="en-US" dirty="0"/>
              </a:p>
              <a:p>
                <a:pPr lvl="0"/>
                <a:r>
                  <a:rPr lang="en-US" dirty="0"/>
                  <a:t> </a:t>
                </a:r>
                <a:r>
                  <a:rPr lang="en-US" b="1" dirty="0"/>
                  <a:t>Stateful Agent Graph Orchestration:</a:t>
                </a:r>
                <a:r>
                  <a:rPr lang="en-US" dirty="0"/>
                  <a:t> Uses </a:t>
                </a:r>
                <a:r>
                  <a:rPr lang="en-US" dirty="0" err="1"/>
                  <a:t>LangGraph</a:t>
                </a:r>
                <a:r>
                  <a:rPr lang="en-US" dirty="0"/>
                  <a:t> </a:t>
                </a:r>
                <a:r>
                  <a:rPr lang="en-US" dirty="0" err="1"/>
                  <a:t>StateGraph</a:t>
                </a:r>
                <a:r>
                  <a:rPr lang="en-US" dirty="0"/>
                  <a:t> to manage data flow between specialized, autonomous agent nodes (Regulatory Auditor &amp; Safety Critic). </a:t>
                </a:r>
              </a:p>
              <a:p>
                <a:pPr lvl="0"/>
                <a:r>
                  <a:rPr lang="en-US" b="1" dirty="0"/>
                  <a:t>Grounded Reference Knowledge Retrieval:</a:t>
                </a:r>
                <a:r>
                  <a:rPr lang="en-US" dirty="0"/>
                  <a:t> Powered by </a:t>
                </a:r>
                <a:r>
                  <a:rPr lang="en-US" dirty="0" err="1"/>
                  <a:t>ChromaDB</a:t>
                </a:r>
                <a:r>
                  <a:rPr lang="en-US" dirty="0"/>
                  <a:t> vector storage, embedding official FDA rules, drug interaction indices, and trial frameworks. </a:t>
                </a:r>
              </a:p>
              <a:p>
                <a:pPr lvl="0"/>
                <a:r>
                  <a:rPr lang="en-US" dirty="0"/>
                  <a:t> </a:t>
                </a:r>
                <a:r>
                  <a:rPr lang="en-US" b="1" dirty="0"/>
                  <a:t>Deterministic Hazard Detection:</a:t>
                </a:r>
                <a:r>
                  <a:rPr lang="en-US" dirty="0"/>
                  <a:t> Employs conditional branching in the graph state to automatically raise critical flags (</a:t>
                </a:r>
                <a:r>
                  <a:rPr lang="en-US" dirty="0" err="1"/>
                  <a:t>critical_flag</a:t>
                </a:r>
                <a:r>
                  <a:rPr lang="en-US" dirty="0"/>
                  <a:t> = True) when toxic parameters are detected. </a:t>
                </a:r>
              </a:p>
              <a:p>
                <a:r>
                  <a:rPr lang="en-US" dirty="0"/>
                  <a:t>📄</a:t>
                </a:r>
                <a:r>
                  <a:rPr lang="en-US" b="1" dirty="0"/>
                  <a:t>Dual-Modal Protocol Ingestion:</a:t>
                </a:r>
                <a:r>
                  <a:rPr lang="en-US" dirty="0"/>
                  <a:t> Supports page-by-page PDF parsing via </a:t>
                </a:r>
                <a:r>
                  <a:rPr lang="en-US" dirty="0" err="1"/>
                  <a:t>pypdf</a:t>
                </a:r>
                <a:r>
                  <a:rPr lang="en-US" dirty="0"/>
                  <a:t> as well as direct text extraction inputs via an intuitive </a:t>
                </a:r>
                <a:r>
                  <a:rPr lang="en-US" dirty="0" err="1"/>
                  <a:t>Streamlit</a:t>
                </a:r>
                <a:r>
                  <a:rPr lang="en-US" dirty="0"/>
                  <a:t> interface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063CA-1B64-D20F-A67E-FE54BB349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4" t="-1452" r="-752" b="-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9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7CD34-28B5-89CF-FB57-C5EA8612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41CE-9BA8-F6CF-9ECE-9AA4020C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🏗️ Technical Architecture &amp; Workflow Pipeline</a:t>
            </a:r>
            <a:br>
              <a:rPr lang="en-US" b="1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44AC-1004-3E1C-5EC5-A5F258E6E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254" y="1696720"/>
            <a:ext cx="11179492" cy="516128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000" b="1" dirty="0"/>
              <a:t>End-to-End System Graph Pipeline</a:t>
            </a:r>
          </a:p>
          <a:p>
            <a:pPr marL="0" indent="0">
              <a:buNone/>
            </a:pPr>
            <a:r>
              <a:rPr lang="en-US" sz="3000" dirty="0"/>
              <a:t> [ Input Protocol ] ---&gt; [ Document Parser ] ---&gt; [ Vector DB (Chroma) ]</a:t>
            </a:r>
          </a:p>
          <a:p>
            <a:pPr marL="0" indent="0">
              <a:buNone/>
            </a:pPr>
            <a:r>
              <a:rPr lang="en-US" sz="3000" dirty="0"/>
              <a:t>        |                         |                         |</a:t>
            </a:r>
          </a:p>
          <a:p>
            <a:pPr marL="0" indent="0">
              <a:buNone/>
            </a:pPr>
            <a:r>
              <a:rPr lang="en-US" sz="3000" dirty="0"/>
              <a:t>        v                         </a:t>
            </a:r>
            <a:r>
              <a:rPr lang="en-US" sz="3000" dirty="0" err="1"/>
              <a:t>v</a:t>
            </a:r>
            <a:r>
              <a:rPr lang="en-US" sz="3000" dirty="0"/>
              <a:t>                         </a:t>
            </a:r>
            <a:r>
              <a:rPr lang="en-US" sz="3000" dirty="0" err="1"/>
              <a:t>v</a:t>
            </a:r>
            <a:endParaRPr lang="en-US" sz="3000" dirty="0"/>
          </a:p>
          <a:p>
            <a:pPr marL="0" indent="0">
              <a:buNone/>
            </a:pPr>
            <a:r>
              <a:rPr lang="en-US" sz="3000" dirty="0"/>
              <a:t>  (PDF / Text Input)      (</a:t>
            </a:r>
            <a:r>
              <a:rPr lang="en-US" sz="3000" dirty="0" err="1"/>
              <a:t>pypdf</a:t>
            </a:r>
            <a:r>
              <a:rPr lang="en-US" sz="3000" dirty="0"/>
              <a:t> / </a:t>
            </a:r>
            <a:r>
              <a:rPr lang="en-US" sz="3000" dirty="0" err="1"/>
              <a:t>Streamlit</a:t>
            </a:r>
            <a:r>
              <a:rPr lang="en-US" sz="3000" dirty="0"/>
              <a:t>)     (k=3 RAG Context Retrieval)</a:t>
            </a:r>
          </a:p>
          <a:p>
            <a:pPr marL="0" indent="0">
              <a:buNone/>
            </a:pPr>
            <a:r>
              <a:rPr lang="en-US" sz="3000" dirty="0"/>
              <a:t>                                                            |</a:t>
            </a:r>
          </a:p>
          <a:p>
            <a:pPr marL="0" indent="0">
              <a:buNone/>
            </a:pPr>
            <a:r>
              <a:rPr lang="en-US" sz="3000" dirty="0"/>
              <a:t>                                                            v</a:t>
            </a:r>
          </a:p>
          <a:p>
            <a:pPr marL="0" indent="0">
              <a:buNone/>
            </a:pPr>
            <a:r>
              <a:rPr lang="en-US" sz="3000" dirty="0"/>
              <a:t>[ </a:t>
            </a:r>
            <a:r>
              <a:rPr lang="en-US" sz="3000" dirty="0" err="1"/>
              <a:t>StateGraph</a:t>
            </a:r>
            <a:r>
              <a:rPr lang="en-US" sz="3000" dirty="0"/>
              <a:t> Execution ] &lt;----------------------------------+</a:t>
            </a:r>
          </a:p>
          <a:p>
            <a:pPr marL="0" indent="0">
              <a:buNone/>
            </a:pPr>
            <a:r>
              <a:rPr lang="en-US" sz="3000" dirty="0"/>
              <a:t>        |</a:t>
            </a:r>
          </a:p>
          <a:p>
            <a:pPr marL="0" indent="0">
              <a:buNone/>
            </a:pPr>
            <a:r>
              <a:rPr lang="en-US" sz="3000" dirty="0"/>
              <a:t>        +---&gt; Node 1: Regulatory Auditor Agent  ---&gt; Updates '</a:t>
            </a:r>
            <a:r>
              <a:rPr lang="en-US" sz="3000" dirty="0" err="1"/>
              <a:t>audit_findings</a:t>
            </a:r>
            <a:r>
              <a:rPr lang="en-US" sz="3000" dirty="0"/>
              <a:t>'</a:t>
            </a:r>
          </a:p>
          <a:p>
            <a:pPr marL="0" indent="0">
              <a:buNone/>
            </a:pPr>
            <a:r>
              <a:rPr lang="en-US" sz="3000" dirty="0"/>
              <a:t>        |                                                     |</a:t>
            </a:r>
          </a:p>
          <a:p>
            <a:pPr marL="0" indent="0">
              <a:buNone/>
            </a:pPr>
            <a:r>
              <a:rPr lang="en-US" sz="3000" dirty="0"/>
              <a:t>        +---&gt; Node 2: Safety Critic Agent      ---&gt; Updates '</a:t>
            </a:r>
            <a:r>
              <a:rPr lang="en-US" sz="3000" dirty="0" err="1"/>
              <a:t>safety_critique</a:t>
            </a:r>
            <a:r>
              <a:rPr lang="en-US" sz="3000" dirty="0"/>
              <a:t>' &amp; '</a:t>
            </a:r>
            <a:r>
              <a:rPr lang="en-US" sz="3000" dirty="0" err="1"/>
              <a:t>critical_flag</a:t>
            </a:r>
            <a:r>
              <a:rPr lang="en-US" sz="3000" dirty="0"/>
              <a:t>'</a:t>
            </a:r>
          </a:p>
          <a:p>
            <a:pPr marL="0" indent="0">
              <a:buNone/>
            </a:pPr>
            <a:r>
              <a:rPr lang="en-US" sz="3000" dirty="0"/>
              <a:t>                                                     |</a:t>
            </a:r>
          </a:p>
          <a:p>
            <a:pPr marL="0" indent="0">
              <a:buNone/>
            </a:pPr>
            <a:r>
              <a:rPr lang="en-US" sz="3000" dirty="0"/>
              <a:t>                                                     v</a:t>
            </a:r>
          </a:p>
          <a:p>
            <a:pPr marL="0" indent="0">
              <a:buNone/>
            </a:pPr>
            <a:r>
              <a:rPr lang="en-US" sz="3000" dirty="0"/>
              <a:t>                                       [ Executive Audit Dashboard ]</a:t>
            </a:r>
          </a:p>
          <a:p>
            <a:pPr marL="0" indent="0">
              <a:buNone/>
            </a:pPr>
            <a:r>
              <a:rPr lang="en-US" sz="3000" dirty="0"/>
              <a:t>                                       (Live Findings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94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3AA2-07F0-83C3-38FF-7159F12C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AI Agents</a:t>
            </a:r>
            <a:br>
              <a:rPr lang="en-US" b="1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FF3DE-2DFB-CDEB-8A26-87EBBEA89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2092960"/>
            <a:ext cx="10813732" cy="3818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📋 AG01: Regulatory Auditor Agent</a:t>
            </a:r>
          </a:p>
          <a:p>
            <a:pPr marL="0" indent="0">
              <a:buNone/>
            </a:pPr>
            <a:r>
              <a:rPr lang="en-US" b="1" dirty="0"/>
              <a:t>Role &amp; Objective:</a:t>
            </a:r>
            <a:r>
              <a:rPr lang="en-US" dirty="0"/>
              <a:t> Acts as an expert clinical regulatory auditor to cross-examine submitted trial protocols against established medical guidelines and FDA mandates. </a:t>
            </a:r>
          </a:p>
          <a:p>
            <a:pPr marL="0" indent="0">
              <a:buNone/>
            </a:pPr>
            <a:r>
              <a:rPr lang="en-US" b="1" dirty="0"/>
              <a:t>Input Context:</a:t>
            </a:r>
            <a:r>
              <a:rPr lang="en-US" dirty="0"/>
              <a:t> Reads </a:t>
            </a:r>
            <a:r>
              <a:rPr lang="en-US" dirty="0" err="1"/>
              <a:t>initial_state</a:t>
            </a:r>
            <a:r>
              <a:rPr lang="en-US" dirty="0"/>
              <a:t>["protocol"] alongside retrieved </a:t>
            </a:r>
            <a:r>
              <a:rPr lang="en-US" dirty="0" err="1"/>
              <a:t>initial_state</a:t>
            </a:r>
            <a:r>
              <a:rPr lang="en-US" dirty="0"/>
              <a:t>["context"] from </a:t>
            </a:r>
            <a:r>
              <a:rPr lang="en-US" dirty="0" err="1"/>
              <a:t>ChromaDB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Key Tasks Executed: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Verifies baseline biomarker requirements (e.g., FDA Rule 2026: Day 0 pre-injection and Day 14 post-injection mRNA tracking). </a:t>
            </a:r>
          </a:p>
          <a:p>
            <a:pPr marL="457200" lvl="1" indent="0">
              <a:buNone/>
            </a:pPr>
            <a:r>
              <a:rPr lang="en-US" dirty="0"/>
              <a:t>Checks for mandatory laboratory schedules (e.g., Standard Protocol 88: Weekly AST/ALT liver enzyme panels). </a:t>
            </a:r>
          </a:p>
          <a:p>
            <a:pPr marL="457200" lvl="1" indent="0">
              <a:buNone/>
            </a:pPr>
            <a:r>
              <a:rPr lang="en-US" dirty="0"/>
              <a:t>Identifies regulatory omissions or missing audit trails in trial abstracts.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47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AABB-7F75-2CD3-BC87-0CF860DFB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716280"/>
          </a:xfrm>
        </p:spPr>
        <p:txBody>
          <a:bodyPr>
            <a:normAutofit fontScale="90000"/>
          </a:bodyPr>
          <a:lstStyle/>
          <a:p>
            <a:r>
              <a:rPr lang="en-US" dirty="0"/>
              <a:t>AG02: Safety Critic Agent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883F5A5-D3C3-8611-6383-A66076CAD2E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89213" y="3627120"/>
                <a:ext cx="8915399" cy="283463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b="1" dirty="0"/>
                  <a:t>Role &amp; Objective:</a:t>
                </a:r>
                <a:r>
                  <a:rPr lang="en-US" dirty="0"/>
                  <a:t> Function as an autonomous clinical safety supervisor evaluating audit findings against stringent physiological and toxicological boundaries. </a:t>
                </a:r>
              </a:p>
              <a:p>
                <a:r>
                  <a:rPr lang="en-US" b="1" dirty="0"/>
                  <a:t>Input Context:</a:t>
                </a:r>
                <a:r>
                  <a:rPr lang="en-US" dirty="0"/>
                  <a:t> Analyzes state["protocol"], state["context"], and state["</a:t>
                </a:r>
                <a:r>
                  <a:rPr lang="en-US" dirty="0" err="1"/>
                  <a:t>audit_findings</a:t>
                </a:r>
                <a:r>
                  <a:rPr lang="en-US" dirty="0"/>
                  <a:t>"]. </a:t>
                </a:r>
              </a:p>
              <a:p>
                <a:r>
                  <a:rPr lang="en-US" b="1" dirty="0"/>
                  <a:t>Key Tasks Executed:</a:t>
                </a:r>
                <a:endParaRPr lang="en-US" dirty="0"/>
              </a:p>
              <a:p>
                <a:r>
                  <a:rPr lang="en-US" dirty="0"/>
                  <a:t>Evaluates drug dosage boundaries (e.g., Guideline Ref 402: Daily Drug XYZ dosage </a:t>
                </a:r>
                <a14:m>
                  <m:oMath xmlns:m="http://schemas.openxmlformats.org/officeDocument/2006/math">
                    <m:r>
                      <a:rPr lang="en-US"/>
                      <m:t>&gt;</m:t>
                    </m:r>
                    <m:r>
                      <a:rPr lang="en-US"/>
                      <m:t>50</m:t>
                    </m:r>
                    <m:r>
                      <m:rPr>
                        <m:nor/>
                      </m:rPr>
                      <a:rPr lang="en-US"/>
                      <m:t>mg</m:t>
                    </m:r>
                  </m:oMath>
                </a14:m>
                <a:r>
                  <a:rPr lang="en-US" dirty="0"/>
                  <a:t>triggering cardiotoxicity). </a:t>
                </a:r>
              </a:p>
              <a:p>
                <a:r>
                  <a:rPr lang="en-US" dirty="0"/>
                  <a:t>Validates required safety protocols (e.g., verifying if continuous telemetry monitoring is specified for high-dosage protocols). </a:t>
                </a:r>
              </a:p>
              <a:p>
                <a:r>
                  <a:rPr lang="en-US" dirty="0"/>
                  <a:t>Identifies high-risk combination therapies (e.g., Beta-2 inhibitors + antihistamines causing acute respiratory distress).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883F5A5-D3C3-8611-6383-A66076CAD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89213" y="3627120"/>
                <a:ext cx="8915399" cy="2834639"/>
              </a:xfrm>
              <a:blipFill>
                <a:blip r:embed="rId2"/>
                <a:stretch>
                  <a:fillRect l="-274" t="-1075" r="-479" b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61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50F5D5-EEB6-5F94-2FF7-00D29FAF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4239" y="1412241"/>
            <a:ext cx="9330373" cy="4491422"/>
          </a:xfrm>
        </p:spPr>
        <p:txBody>
          <a:bodyPr>
            <a:normAutofit/>
          </a:bodyPr>
          <a:lstStyle/>
          <a:p>
            <a:r>
              <a:rPr lang="en-US" b="1" dirty="0"/>
              <a:t>1.medical_guidelines.pdf (Global Standards &amp; FDA Mandates)</a:t>
            </a:r>
          </a:p>
          <a:p>
            <a:r>
              <a:rPr lang="en-US" b="1" dirty="0"/>
              <a:t>2. drug_safety.pdf (Pharmaceutical Interactions Index)</a:t>
            </a:r>
          </a:p>
          <a:p>
            <a:r>
              <a:rPr lang="en-US" b="1" dirty="0"/>
              <a:t>3. clinical_trial.pdf (Framework &amp; Blueprint Templates)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5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9B08-982E-A756-43DE-05FCF45B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Technical Differentiators and Future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FFDA-27BC-F5EF-936C-B409F09B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133600"/>
            <a:ext cx="10773092" cy="410029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Real-Time Conditional Hazard Flags.</a:t>
            </a:r>
          </a:p>
          <a:p>
            <a:r>
              <a:rPr lang="en-US" b="1" dirty="0"/>
              <a:t>🛠️ </a:t>
            </a:r>
            <a:r>
              <a:rPr lang="en-US" dirty="0"/>
              <a:t>Automated Self-Healing Deployment Wrapper</a:t>
            </a:r>
          </a:p>
          <a:p>
            <a:r>
              <a:rPr lang="en-US" b="1" dirty="0"/>
              <a:t>Future Technical Roadmap</a:t>
            </a:r>
          </a:p>
          <a:p>
            <a:pPr marL="0" indent="0">
              <a:buNone/>
            </a:pPr>
            <a:r>
              <a:rPr lang="en-US" dirty="0"/>
              <a:t>[ Phase 1: MVP &amp; Graph Engine ] --------&gt; [ Phase 2: Enterprise Integration ] --------&gt; [ Phase 3: Scale ]</a:t>
            </a:r>
          </a:p>
          <a:p>
            <a:pPr marL="0" indent="0">
              <a:buNone/>
            </a:pPr>
            <a:r>
              <a:rPr lang="en-US" dirty="0"/>
              <a:t>             (Current)                                (6–12 months)                         (12–24 months)</a:t>
            </a:r>
          </a:p>
          <a:p>
            <a:pPr marL="0" indent="0">
              <a:buNone/>
            </a:pPr>
            <a:r>
              <a:rPr lang="en-US" b="1" dirty="0"/>
              <a:t>Phase 1: MVP &amp; Core Graph Engine (Current)</a:t>
            </a:r>
          </a:p>
          <a:p>
            <a:pPr marL="0" indent="0">
              <a:buNone/>
            </a:pPr>
            <a:r>
              <a:rPr lang="en-US" dirty="0"/>
              <a:t>Completed </a:t>
            </a:r>
            <a:r>
              <a:rPr lang="en-US" dirty="0" err="1"/>
              <a:t>LangGraph</a:t>
            </a:r>
            <a:r>
              <a:rPr lang="en-US" dirty="0"/>
              <a:t> state machine, </a:t>
            </a:r>
            <a:r>
              <a:rPr lang="en-US" dirty="0" err="1"/>
              <a:t>ChromaDB</a:t>
            </a:r>
            <a:r>
              <a:rPr lang="en-US" dirty="0"/>
              <a:t> vector retrieval, dual PDF/text ingestion, and real-time hazard flagging. </a:t>
            </a:r>
          </a:p>
          <a:p>
            <a:pPr marL="0" indent="0">
              <a:buNone/>
            </a:pPr>
            <a:r>
              <a:rPr lang="en-US" b="1" dirty="0"/>
              <a:t>Phase 2: Enterprise CTMS &amp; EHR Integration (6–12 Months)</a:t>
            </a:r>
          </a:p>
          <a:p>
            <a:pPr marL="0" indent="0">
              <a:buNone/>
            </a:pPr>
            <a:r>
              <a:rPr lang="en-US" dirty="0"/>
              <a:t>Seamless integration with Clinical Trial Management Systems (CTMS) and electronic submission portals (e.g., FDA ESG).</a:t>
            </a:r>
          </a:p>
          <a:p>
            <a:pPr marL="0" indent="0">
              <a:buNone/>
            </a:pPr>
            <a:r>
              <a:rPr lang="en-US" dirty="0"/>
              <a:t>Expansion of vector knowledge bases to cover multi-region regulatory bodies (EMA, PMDA, CDSCO).</a:t>
            </a:r>
          </a:p>
          <a:p>
            <a:pPr marL="0" indent="0">
              <a:buNone/>
            </a:pPr>
            <a:r>
              <a:rPr lang="en-US" dirty="0"/>
              <a:t>Automated fine-tuning of domain-specific LLM adapters for specialized therapeutic areas (Oncology, Cardiology).</a:t>
            </a:r>
          </a:p>
          <a:p>
            <a:pPr marL="0" indent="0">
              <a:buNone/>
            </a:pPr>
            <a:r>
              <a:rPr lang="en-US" b="1" dirty="0"/>
              <a:t>Phase 3: Automated Protocol Optimization &amp; Scale (12–24 Months)</a:t>
            </a:r>
          </a:p>
          <a:p>
            <a:pPr marL="0" indent="0">
              <a:buNone/>
            </a:pPr>
            <a:r>
              <a:rPr lang="en-US" b="1" dirty="0"/>
              <a:t>Auto-Remediation Engine:</a:t>
            </a:r>
            <a:r>
              <a:rPr lang="en-US" dirty="0"/>
              <a:t> Suggests precise textual and dosage edits to resolve detected safety violations automatically.</a:t>
            </a:r>
          </a:p>
          <a:p>
            <a:pPr marL="0" indent="0">
              <a:buNone/>
            </a:pPr>
            <a:r>
              <a:rPr lang="en-US" dirty="0"/>
              <a:t>Enterprise Multi-Tenant Deployment supporting real-time collaborative protocol editing for research teams.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3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</TotalTime>
  <Words>1044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Wisp</vt:lpstr>
      <vt:lpstr>Medical Literature Review &amp; Compliance Engine</vt:lpstr>
      <vt:lpstr>In-Depth Analysis of Core Bottlenecks </vt:lpstr>
      <vt:lpstr>💡 Solution: Multi-Agent Compliance Engine </vt:lpstr>
      <vt:lpstr>🏗️ Technical Architecture &amp; Workflow Pipeline  </vt:lpstr>
      <vt:lpstr>AI Agents  </vt:lpstr>
      <vt:lpstr>AG02: Safety Critic Agent</vt:lpstr>
      <vt:lpstr>PowerPoint Presentation</vt:lpstr>
      <vt:lpstr>Key Technical Differentiators and Future Scopes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Neuro-Symbolic System for Smart and Safe food Recommendation</dc:title>
  <dc:creator>hp</dc:creator>
  <cp:lastModifiedBy>Aakansha Jain</cp:lastModifiedBy>
  <cp:revision>7</cp:revision>
  <dcterms:created xsi:type="dcterms:W3CDTF">2025-07-23T17:39:55Z</dcterms:created>
  <dcterms:modified xsi:type="dcterms:W3CDTF">2026-07-24T12:11:04Z</dcterms:modified>
</cp:coreProperties>
</file>